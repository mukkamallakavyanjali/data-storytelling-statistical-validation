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65" r:id="rId4"/>
    <p:sldId id="257" r:id="rId5"/>
    <p:sldId id="266" r:id="rId6"/>
    <p:sldId id="258" r:id="rId7"/>
    <p:sldId id="259" r:id="rId8"/>
    <p:sldId id="260" r:id="rId9"/>
    <p:sldId id="261" r:id="rId10"/>
    <p:sldId id="267" r:id="rId11"/>
    <p:sldId id="262" r:id="rId12"/>
    <p:sldId id="26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62747-BCF5-0CC2-41B6-2991969EAB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ED96A4E-3FA8-7D3F-5BF8-14B25375CF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F6D1D24-3BF3-7F37-AFF9-CF0DDE06F94D}"/>
              </a:ext>
            </a:extLst>
          </p:cNvPr>
          <p:cNvSpPr>
            <a:spLocks noGrp="1"/>
          </p:cNvSpPr>
          <p:nvPr>
            <p:ph type="dt" sz="half" idx="10"/>
          </p:nvPr>
        </p:nvSpPr>
        <p:spPr/>
        <p:txBody>
          <a:bodyPr/>
          <a:lstStyle/>
          <a:p>
            <a:fld id="{C6B78E69-29D9-4187-9215-DB3761A071AC}" type="datetimeFigureOut">
              <a:rPr lang="en-US" smtClean="0"/>
              <a:t>7/27/2026</a:t>
            </a:fld>
            <a:endParaRPr lang="en-US"/>
          </a:p>
        </p:txBody>
      </p:sp>
      <p:sp>
        <p:nvSpPr>
          <p:cNvPr id="5" name="Footer Placeholder 4">
            <a:extLst>
              <a:ext uri="{FF2B5EF4-FFF2-40B4-BE49-F238E27FC236}">
                <a16:creationId xmlns:a16="http://schemas.microsoft.com/office/drawing/2014/main" id="{5493A0B7-0917-04FA-7ABB-5F1023F324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7BA2FD-65CD-E306-6B31-BBB63010F335}"/>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5408650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19223-682B-9DE0-1DA6-E9C2FC6318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126040-179D-4ED5-BEF2-C60E23159D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B8B8B7-6C12-F330-ED3D-035C7231DA0A}"/>
              </a:ext>
            </a:extLst>
          </p:cNvPr>
          <p:cNvSpPr>
            <a:spLocks noGrp="1"/>
          </p:cNvSpPr>
          <p:nvPr>
            <p:ph type="dt" sz="half" idx="10"/>
          </p:nvPr>
        </p:nvSpPr>
        <p:spPr/>
        <p:txBody>
          <a:bodyPr/>
          <a:lstStyle/>
          <a:p>
            <a:fld id="{C6B78E69-29D9-4187-9215-DB3761A071AC}" type="datetimeFigureOut">
              <a:rPr lang="en-US" smtClean="0"/>
              <a:t>7/27/2026</a:t>
            </a:fld>
            <a:endParaRPr lang="en-US"/>
          </a:p>
        </p:txBody>
      </p:sp>
      <p:sp>
        <p:nvSpPr>
          <p:cNvPr id="5" name="Footer Placeholder 4">
            <a:extLst>
              <a:ext uri="{FF2B5EF4-FFF2-40B4-BE49-F238E27FC236}">
                <a16:creationId xmlns:a16="http://schemas.microsoft.com/office/drawing/2014/main" id="{219AE114-64B5-D83F-50BD-6DD61C4969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409D47-966C-DE68-88A2-E0DC7BAD6CC1}"/>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24376399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9E6CB-C2C1-F659-EB5A-65D5C603069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4FD4437-42B8-A4C4-621D-560519D4E19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3FA7A8-8BF4-7719-7C91-3BCE9FCF8C9F}"/>
              </a:ext>
            </a:extLst>
          </p:cNvPr>
          <p:cNvSpPr>
            <a:spLocks noGrp="1"/>
          </p:cNvSpPr>
          <p:nvPr>
            <p:ph type="dt" sz="half" idx="10"/>
          </p:nvPr>
        </p:nvSpPr>
        <p:spPr/>
        <p:txBody>
          <a:bodyPr/>
          <a:lstStyle/>
          <a:p>
            <a:fld id="{C6B78E69-29D9-4187-9215-DB3761A071AC}" type="datetimeFigureOut">
              <a:rPr lang="en-US" smtClean="0"/>
              <a:t>7/27/2026</a:t>
            </a:fld>
            <a:endParaRPr lang="en-US"/>
          </a:p>
        </p:txBody>
      </p:sp>
      <p:sp>
        <p:nvSpPr>
          <p:cNvPr id="5" name="Footer Placeholder 4">
            <a:extLst>
              <a:ext uri="{FF2B5EF4-FFF2-40B4-BE49-F238E27FC236}">
                <a16:creationId xmlns:a16="http://schemas.microsoft.com/office/drawing/2014/main" id="{6FA1B1E2-8EEE-9468-38B7-BD4552E53B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5EA26D-FCF3-9AB5-5E05-657F76CAADE4}"/>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798461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4187A-E788-92A1-99D4-D411B3D4D5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050711-629B-7790-29EB-C08C3885AD3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069A571-2EF1-DA84-3452-08D353D0F2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8A73593-5071-8C3F-031A-6CCF0591A4B5}"/>
              </a:ext>
            </a:extLst>
          </p:cNvPr>
          <p:cNvSpPr>
            <a:spLocks noGrp="1"/>
          </p:cNvSpPr>
          <p:nvPr>
            <p:ph type="dt" sz="half" idx="10"/>
          </p:nvPr>
        </p:nvSpPr>
        <p:spPr/>
        <p:txBody>
          <a:bodyPr/>
          <a:lstStyle/>
          <a:p>
            <a:fld id="{C6B78E69-29D9-4187-9215-DB3761A071AC}" type="datetimeFigureOut">
              <a:rPr lang="en-US" smtClean="0"/>
              <a:t>7/27/2026</a:t>
            </a:fld>
            <a:endParaRPr lang="en-US"/>
          </a:p>
        </p:txBody>
      </p:sp>
      <p:sp>
        <p:nvSpPr>
          <p:cNvPr id="6" name="Footer Placeholder 5">
            <a:extLst>
              <a:ext uri="{FF2B5EF4-FFF2-40B4-BE49-F238E27FC236}">
                <a16:creationId xmlns:a16="http://schemas.microsoft.com/office/drawing/2014/main" id="{E2B2DFF5-7186-00AF-62C3-5CA859BEE1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3E3887-717E-E381-82FB-C280F4578541}"/>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562065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D1266-173F-E31E-6C20-32C64D6F2B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017A47B-DB01-8A18-49C2-7F03840B59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6FEC75-D748-2948-FBE2-9BAE76E51E6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D63405-2EA5-0F4D-25BF-6242794504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0F4B1E-4BA9-8C0A-2954-621FAA6B60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4DEF6DB-F37C-6815-EA8F-4EB86AF0087F}"/>
              </a:ext>
            </a:extLst>
          </p:cNvPr>
          <p:cNvSpPr>
            <a:spLocks noGrp="1"/>
          </p:cNvSpPr>
          <p:nvPr>
            <p:ph type="dt" sz="half" idx="10"/>
          </p:nvPr>
        </p:nvSpPr>
        <p:spPr/>
        <p:txBody>
          <a:bodyPr/>
          <a:lstStyle/>
          <a:p>
            <a:fld id="{C6B78E69-29D9-4187-9215-DB3761A071AC}" type="datetimeFigureOut">
              <a:rPr lang="en-US" smtClean="0"/>
              <a:t>7/27/2026</a:t>
            </a:fld>
            <a:endParaRPr lang="en-US"/>
          </a:p>
        </p:txBody>
      </p:sp>
      <p:sp>
        <p:nvSpPr>
          <p:cNvPr id="8" name="Footer Placeholder 7">
            <a:extLst>
              <a:ext uri="{FF2B5EF4-FFF2-40B4-BE49-F238E27FC236}">
                <a16:creationId xmlns:a16="http://schemas.microsoft.com/office/drawing/2014/main" id="{E6E261C6-03EB-7AFF-B84C-716BC2D0DB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CAE746F-ABC1-F9EE-67E4-DB95A56DFD0A}"/>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2628534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CF882-07A4-3883-EB33-8C2D519FF24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A743CA4-229A-DD0B-3616-626812A4045B}"/>
              </a:ext>
            </a:extLst>
          </p:cNvPr>
          <p:cNvSpPr>
            <a:spLocks noGrp="1"/>
          </p:cNvSpPr>
          <p:nvPr>
            <p:ph type="dt" sz="half" idx="10"/>
          </p:nvPr>
        </p:nvSpPr>
        <p:spPr/>
        <p:txBody>
          <a:bodyPr/>
          <a:lstStyle/>
          <a:p>
            <a:fld id="{C6B78E69-29D9-4187-9215-DB3761A071AC}" type="datetimeFigureOut">
              <a:rPr lang="en-US" smtClean="0"/>
              <a:t>7/27/2026</a:t>
            </a:fld>
            <a:endParaRPr lang="en-US"/>
          </a:p>
        </p:txBody>
      </p:sp>
      <p:sp>
        <p:nvSpPr>
          <p:cNvPr id="4" name="Footer Placeholder 3">
            <a:extLst>
              <a:ext uri="{FF2B5EF4-FFF2-40B4-BE49-F238E27FC236}">
                <a16:creationId xmlns:a16="http://schemas.microsoft.com/office/drawing/2014/main" id="{2CF2BD0C-3384-879B-E6CC-B5D49CBA722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6B02AE3-0E13-944A-183D-CB4B3235221B}"/>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3221722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EFDD7D-C20B-5000-39CC-207321EA8528}"/>
              </a:ext>
            </a:extLst>
          </p:cNvPr>
          <p:cNvSpPr>
            <a:spLocks noGrp="1"/>
          </p:cNvSpPr>
          <p:nvPr>
            <p:ph type="dt" sz="half" idx="10"/>
          </p:nvPr>
        </p:nvSpPr>
        <p:spPr/>
        <p:txBody>
          <a:bodyPr/>
          <a:lstStyle/>
          <a:p>
            <a:fld id="{C6B78E69-29D9-4187-9215-DB3761A071AC}" type="datetimeFigureOut">
              <a:rPr lang="en-US" smtClean="0"/>
              <a:t>7/27/2026</a:t>
            </a:fld>
            <a:endParaRPr lang="en-US"/>
          </a:p>
        </p:txBody>
      </p:sp>
      <p:sp>
        <p:nvSpPr>
          <p:cNvPr id="3" name="Footer Placeholder 2">
            <a:extLst>
              <a:ext uri="{FF2B5EF4-FFF2-40B4-BE49-F238E27FC236}">
                <a16:creationId xmlns:a16="http://schemas.microsoft.com/office/drawing/2014/main" id="{6821C922-D244-D0C8-5E4E-E91C2E038AE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859039-C12B-AA0D-26EF-80087AEBA785}"/>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1770529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D5121-C5AD-609F-1949-1EB74D8296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36AC3F2-1DCA-F690-489D-29F53244C6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8CFACBE-5FD6-88EF-2C78-CEF68E3115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AC2D7E-640C-D93F-935E-395F972B3E0E}"/>
              </a:ext>
            </a:extLst>
          </p:cNvPr>
          <p:cNvSpPr>
            <a:spLocks noGrp="1"/>
          </p:cNvSpPr>
          <p:nvPr>
            <p:ph type="dt" sz="half" idx="10"/>
          </p:nvPr>
        </p:nvSpPr>
        <p:spPr/>
        <p:txBody>
          <a:bodyPr/>
          <a:lstStyle/>
          <a:p>
            <a:fld id="{C6B78E69-29D9-4187-9215-DB3761A071AC}" type="datetimeFigureOut">
              <a:rPr lang="en-US" smtClean="0"/>
              <a:t>7/27/2026</a:t>
            </a:fld>
            <a:endParaRPr lang="en-US"/>
          </a:p>
        </p:txBody>
      </p:sp>
      <p:sp>
        <p:nvSpPr>
          <p:cNvPr id="6" name="Footer Placeholder 5">
            <a:extLst>
              <a:ext uri="{FF2B5EF4-FFF2-40B4-BE49-F238E27FC236}">
                <a16:creationId xmlns:a16="http://schemas.microsoft.com/office/drawing/2014/main" id="{C0427FBB-959B-EF82-CEFA-45D3475C56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8FD6CC-DCF0-F0BD-B09D-1497BD35644A}"/>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9681749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F2F4F-E315-6A12-7445-7E59EEEE62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DC9FF52-EE97-B3BA-82FD-F51AE48CC9C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F6F5323-E9FE-861C-C9E8-48950004BB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2C934D-FFFA-D1FF-1A95-B0A4E223F27C}"/>
              </a:ext>
            </a:extLst>
          </p:cNvPr>
          <p:cNvSpPr>
            <a:spLocks noGrp="1"/>
          </p:cNvSpPr>
          <p:nvPr>
            <p:ph type="dt" sz="half" idx="10"/>
          </p:nvPr>
        </p:nvSpPr>
        <p:spPr/>
        <p:txBody>
          <a:bodyPr/>
          <a:lstStyle/>
          <a:p>
            <a:fld id="{C6B78E69-29D9-4187-9215-DB3761A071AC}" type="datetimeFigureOut">
              <a:rPr lang="en-US" smtClean="0"/>
              <a:t>7/27/2026</a:t>
            </a:fld>
            <a:endParaRPr lang="en-US"/>
          </a:p>
        </p:txBody>
      </p:sp>
      <p:sp>
        <p:nvSpPr>
          <p:cNvPr id="6" name="Footer Placeholder 5">
            <a:extLst>
              <a:ext uri="{FF2B5EF4-FFF2-40B4-BE49-F238E27FC236}">
                <a16:creationId xmlns:a16="http://schemas.microsoft.com/office/drawing/2014/main" id="{1297FC73-A9CD-059B-F4AC-1AECFE73EA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5E204C-7CEA-EA50-EA03-4E628196E73A}"/>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19220479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A1CF0-9384-26E7-3ED7-F2931D0F5B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49BD260-A4D9-3607-D0A2-DBEE74D14F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DD21E4-FC44-1322-242B-4302C98F82E2}"/>
              </a:ext>
            </a:extLst>
          </p:cNvPr>
          <p:cNvSpPr>
            <a:spLocks noGrp="1"/>
          </p:cNvSpPr>
          <p:nvPr>
            <p:ph type="dt" sz="half" idx="10"/>
          </p:nvPr>
        </p:nvSpPr>
        <p:spPr/>
        <p:txBody>
          <a:bodyPr/>
          <a:lstStyle/>
          <a:p>
            <a:fld id="{C6B78E69-29D9-4187-9215-DB3761A071AC}" type="datetimeFigureOut">
              <a:rPr lang="en-US" smtClean="0"/>
              <a:t>7/27/2026</a:t>
            </a:fld>
            <a:endParaRPr lang="en-US"/>
          </a:p>
        </p:txBody>
      </p:sp>
      <p:sp>
        <p:nvSpPr>
          <p:cNvPr id="5" name="Footer Placeholder 4">
            <a:extLst>
              <a:ext uri="{FF2B5EF4-FFF2-40B4-BE49-F238E27FC236}">
                <a16:creationId xmlns:a16="http://schemas.microsoft.com/office/drawing/2014/main" id="{A0F695F8-115D-5816-EB47-5005D9E39F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CEF531-2211-276B-C35D-45023EBD8258}"/>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1157872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416449-33D5-03B7-D254-E76355B1E1B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998D2C-B518-9E68-C095-73A5AB554C8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3F123F-2D01-9358-F80C-17530B3ED3CF}"/>
              </a:ext>
            </a:extLst>
          </p:cNvPr>
          <p:cNvSpPr>
            <a:spLocks noGrp="1"/>
          </p:cNvSpPr>
          <p:nvPr>
            <p:ph type="dt" sz="half" idx="10"/>
          </p:nvPr>
        </p:nvSpPr>
        <p:spPr/>
        <p:txBody>
          <a:bodyPr/>
          <a:lstStyle/>
          <a:p>
            <a:fld id="{C6B78E69-29D9-4187-9215-DB3761A071AC}" type="datetimeFigureOut">
              <a:rPr lang="en-US" smtClean="0"/>
              <a:t>7/27/2026</a:t>
            </a:fld>
            <a:endParaRPr lang="en-US"/>
          </a:p>
        </p:txBody>
      </p:sp>
      <p:sp>
        <p:nvSpPr>
          <p:cNvPr id="5" name="Footer Placeholder 4">
            <a:extLst>
              <a:ext uri="{FF2B5EF4-FFF2-40B4-BE49-F238E27FC236}">
                <a16:creationId xmlns:a16="http://schemas.microsoft.com/office/drawing/2014/main" id="{4A2046DB-3F95-A759-8298-43691E1EF5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DB1BCE-5781-9DFF-A829-9CA9DA3D8CA8}"/>
              </a:ext>
            </a:extLst>
          </p:cNvPr>
          <p:cNvSpPr>
            <a:spLocks noGrp="1"/>
          </p:cNvSpPr>
          <p:nvPr>
            <p:ph type="sldNum" sz="quarter" idx="12"/>
          </p:nvPr>
        </p:nvSpPr>
        <p:spPr/>
        <p:txBody>
          <a:bodyPr/>
          <a:lstStyle/>
          <a:p>
            <a:fld id="{6CB12715-8AAE-4CEB-A2EC-E321BFE8FE2C}" type="slidenum">
              <a:rPr lang="en-US" smtClean="0"/>
              <a:t>‹#›</a:t>
            </a:fld>
            <a:endParaRPr lang="en-US"/>
          </a:p>
        </p:txBody>
      </p:sp>
    </p:spTree>
    <p:extLst>
      <p:ext uri="{BB962C8B-B14F-4D97-AF65-F5344CB8AC3E}">
        <p14:creationId xmlns:p14="http://schemas.microsoft.com/office/powerpoint/2010/main" val="1379481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74BDCC9-C621-6198-A77C-3B96A619FE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18B2C4-2A88-A3F7-D415-09977163FF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B094D2-0991-AAB9-F34B-1C0288CB92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B78E69-29D9-4187-9215-DB3761A071AC}" type="datetimeFigureOut">
              <a:rPr lang="en-US" smtClean="0"/>
              <a:t>7/27/2026</a:t>
            </a:fld>
            <a:endParaRPr lang="en-US"/>
          </a:p>
        </p:txBody>
      </p:sp>
      <p:sp>
        <p:nvSpPr>
          <p:cNvPr id="5" name="Footer Placeholder 4">
            <a:extLst>
              <a:ext uri="{FF2B5EF4-FFF2-40B4-BE49-F238E27FC236}">
                <a16:creationId xmlns:a16="http://schemas.microsoft.com/office/drawing/2014/main" id="{CF14A8F7-37D0-06CB-82CE-DE0BDCD697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B2458C7-A870-33C5-CB01-6C5EE86C5A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B12715-8AAE-4CEB-A2EC-E321BFE8FE2C}" type="slidenum">
              <a:rPr lang="en-US" smtClean="0"/>
              <a:t>‹#›</a:t>
            </a:fld>
            <a:endParaRPr lang="en-US"/>
          </a:p>
        </p:txBody>
      </p:sp>
    </p:spTree>
    <p:extLst>
      <p:ext uri="{BB962C8B-B14F-4D97-AF65-F5344CB8AC3E}">
        <p14:creationId xmlns:p14="http://schemas.microsoft.com/office/powerpoint/2010/main" val="6124579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24D4E-5776-D576-B125-BD8D094C3D55}"/>
              </a:ext>
            </a:extLst>
          </p:cNvPr>
          <p:cNvSpPr>
            <a:spLocks noGrp="1"/>
          </p:cNvSpPr>
          <p:nvPr>
            <p:ph type="ctrTitle"/>
          </p:nvPr>
        </p:nvSpPr>
        <p:spPr/>
        <p:txBody>
          <a:bodyPr/>
          <a:lstStyle/>
          <a:p>
            <a:r>
              <a:rPr lang="en-US" b="1">
                <a:solidFill>
                  <a:schemeClr val="accent1">
                    <a:lumMod val="75000"/>
                  </a:schemeClr>
                </a:solidFill>
                <a:latin typeface="Times New Roman" panose="02020603050405020304" pitchFamily="18" charset="0"/>
                <a:cs typeface="Times New Roman" panose="02020603050405020304" pitchFamily="18" charset="0"/>
              </a:rPr>
              <a:t>Data Storytelling &amp; Statistical Validation</a:t>
            </a:r>
          </a:p>
        </p:txBody>
      </p:sp>
      <p:sp>
        <p:nvSpPr>
          <p:cNvPr id="3" name="Subtitle 2">
            <a:extLst>
              <a:ext uri="{FF2B5EF4-FFF2-40B4-BE49-F238E27FC236}">
                <a16:creationId xmlns:a16="http://schemas.microsoft.com/office/drawing/2014/main" id="{ECB20816-C758-3CF7-844F-EA3E37110A65}"/>
              </a:ext>
            </a:extLst>
          </p:cNvPr>
          <p:cNvSpPr>
            <a:spLocks noGrp="1"/>
          </p:cNvSpPr>
          <p:nvPr>
            <p:ph type="subTitle" idx="1"/>
          </p:nvPr>
        </p:nvSpPr>
        <p:spPr>
          <a:xfrm>
            <a:off x="1524000" y="3602037"/>
            <a:ext cx="9144000" cy="2133599"/>
          </a:xfrm>
        </p:spPr>
        <p:txBody>
          <a:bodyPr>
            <a:normAutofit/>
          </a:bodyPr>
          <a:lstStyle/>
          <a:p>
            <a:r>
              <a:rPr lang="en-US" sz="4000" b="1">
                <a:solidFill>
                  <a:srgbClr val="00B0F0"/>
                </a:solidFill>
                <a:latin typeface="Times New Roman" panose="02020603050405020304" pitchFamily="18" charset="0"/>
                <a:cs typeface="Times New Roman" panose="02020603050405020304" pitchFamily="18" charset="0"/>
              </a:rPr>
              <a:t>Sales Data Analysis Project</a:t>
            </a:r>
          </a:p>
          <a:p>
            <a:r>
              <a:rPr lang="en-US" sz="1800" b="1">
                <a:solidFill>
                  <a:srgbClr val="00B0F0"/>
                </a:solidFill>
                <a:latin typeface="Times New Roman" panose="02020603050405020304" pitchFamily="18" charset="0"/>
                <a:cs typeface="Times New Roman" panose="02020603050405020304" pitchFamily="18" charset="0"/>
              </a:rPr>
              <a:t>Presented By:</a:t>
            </a:r>
          </a:p>
          <a:p>
            <a:r>
              <a:rPr lang="en-US" sz="1800" b="1">
                <a:latin typeface="Times New Roman" panose="02020603050405020304" pitchFamily="18" charset="0"/>
                <a:cs typeface="Times New Roman" panose="02020603050405020304" pitchFamily="18" charset="0"/>
              </a:rPr>
              <a:t>Name</a:t>
            </a:r>
            <a:r>
              <a:rPr lang="en-US" sz="1800" b="1">
                <a:solidFill>
                  <a:srgbClr val="00B0F0"/>
                </a:solidFill>
                <a:latin typeface="Times New Roman" panose="02020603050405020304" pitchFamily="18" charset="0"/>
                <a:cs typeface="Times New Roman" panose="02020603050405020304" pitchFamily="18" charset="0"/>
              </a:rPr>
              <a:t> : </a:t>
            </a:r>
            <a:r>
              <a:rPr lang="en-US" sz="1800">
                <a:latin typeface="Times New Roman" panose="02020603050405020304" pitchFamily="18" charset="0"/>
                <a:cs typeface="Times New Roman" panose="02020603050405020304" pitchFamily="18" charset="0"/>
              </a:rPr>
              <a:t>M. V. Kavyanjali</a:t>
            </a:r>
          </a:p>
          <a:p>
            <a:r>
              <a:rPr lang="en-US" sz="1800" b="1">
                <a:latin typeface="Times New Roman" panose="02020603050405020304" pitchFamily="18" charset="0"/>
                <a:cs typeface="Times New Roman" panose="02020603050405020304" pitchFamily="18" charset="0"/>
              </a:rPr>
              <a:t>Internship</a:t>
            </a:r>
            <a:r>
              <a:rPr lang="en-US" sz="1800" b="1">
                <a:solidFill>
                  <a:srgbClr val="00B0F0"/>
                </a:solidFill>
                <a:latin typeface="Times New Roman" panose="02020603050405020304" pitchFamily="18" charset="0"/>
                <a:cs typeface="Times New Roman" panose="02020603050405020304" pitchFamily="18" charset="0"/>
              </a:rPr>
              <a:t>: </a:t>
            </a:r>
            <a:r>
              <a:rPr lang="en-US" sz="1800">
                <a:latin typeface="Times New Roman" panose="02020603050405020304" pitchFamily="18" charset="0"/>
                <a:cs typeface="Times New Roman" panose="02020603050405020304" pitchFamily="18" charset="0"/>
              </a:rPr>
              <a:t>Data Analytics Internship</a:t>
            </a:r>
          </a:p>
          <a:p>
            <a:endParaRPr lang="en-US" sz="4000" b="1">
              <a:solidFill>
                <a:srgbClr val="00B0F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8028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1ABEC-51C7-1EA0-024A-A4AE0A73D9E7}"/>
              </a:ext>
            </a:extLst>
          </p:cNvPr>
          <p:cNvSpPr>
            <a:spLocks noGrp="1"/>
          </p:cNvSpPr>
          <p:nvPr>
            <p:ph type="title"/>
          </p:nvPr>
        </p:nvSpPr>
        <p:spPr/>
        <p:txBody>
          <a:bodyPr/>
          <a:lstStyle/>
          <a:p>
            <a:r>
              <a:rPr lang="en-US" b="1">
                <a:solidFill>
                  <a:schemeClr val="accent1">
                    <a:lumMod val="75000"/>
                  </a:schemeClr>
                </a:solidFill>
                <a:latin typeface="Times New Roman" panose="02020603050405020304" pitchFamily="18" charset="0"/>
                <a:cs typeface="Times New Roman" panose="02020603050405020304" pitchFamily="18" charset="0"/>
              </a:rPr>
              <a:t>Tasks</a:t>
            </a:r>
          </a:p>
        </p:txBody>
      </p:sp>
      <p:sp>
        <p:nvSpPr>
          <p:cNvPr id="3" name="Content Placeholder 2">
            <a:extLst>
              <a:ext uri="{FF2B5EF4-FFF2-40B4-BE49-F238E27FC236}">
                <a16:creationId xmlns:a16="http://schemas.microsoft.com/office/drawing/2014/main" id="{8D37F22E-3733-6C6A-6BC9-4C4FC841AD9C}"/>
              </a:ext>
            </a:extLst>
          </p:cNvPr>
          <p:cNvSpPr>
            <a:spLocks noGrp="1"/>
          </p:cNvSpPr>
          <p:nvPr>
            <p:ph idx="1"/>
          </p:nvPr>
        </p:nvSpPr>
        <p:spPr/>
        <p:txBody>
          <a:bodyPr>
            <a:normAutofit lnSpcReduction="10000"/>
          </a:bodyPr>
          <a:lstStyle/>
          <a:p>
            <a:r>
              <a:rPr lang="en-US" b="1">
                <a:latin typeface="Times New Roman" panose="02020603050405020304" pitchFamily="18" charset="0"/>
                <a:cs typeface="Times New Roman" panose="02020603050405020304" pitchFamily="18" charset="0"/>
              </a:rPr>
              <a:t>Task-1</a:t>
            </a:r>
            <a:r>
              <a:rPr lang="en-US"/>
              <a:t>: </a:t>
            </a:r>
            <a:r>
              <a:rPr lang="en-US">
                <a:latin typeface="Times New Roman" panose="02020603050405020304" pitchFamily="18" charset="0"/>
                <a:cs typeface="Times New Roman" panose="02020603050405020304" pitchFamily="18" charset="0"/>
              </a:rPr>
              <a:t>Data Immersion &amp; Wrangling</a:t>
            </a:r>
          </a:p>
          <a:p>
            <a:r>
              <a:rPr lang="en-US" b="1">
                <a:latin typeface="Times New Roman" panose="02020603050405020304" pitchFamily="18" charset="0"/>
                <a:cs typeface="Times New Roman" panose="02020603050405020304" pitchFamily="18" charset="0"/>
              </a:rPr>
              <a:t>Task -2</a:t>
            </a:r>
            <a:r>
              <a:rPr lang="en-US">
                <a:latin typeface="Times New Roman" panose="02020603050405020304" pitchFamily="18" charset="0"/>
                <a:cs typeface="Times New Roman" panose="02020603050405020304" pitchFamily="18" charset="0"/>
              </a:rPr>
              <a:t>: Exploratory Data Analysis(EDA)&amp; Business Intelligence</a:t>
            </a:r>
          </a:p>
          <a:p>
            <a:r>
              <a:rPr lang="en-US" b="1">
                <a:latin typeface="Times New Roman" panose="02020603050405020304" pitchFamily="18" charset="0"/>
                <a:cs typeface="Times New Roman" panose="02020603050405020304" pitchFamily="18" charset="0"/>
              </a:rPr>
              <a:t>Task-3</a:t>
            </a:r>
            <a:r>
              <a:rPr lang="en-US">
                <a:latin typeface="Times New Roman" panose="02020603050405020304" pitchFamily="18" charset="0"/>
                <a:cs typeface="Times New Roman" panose="02020603050405020304" pitchFamily="18" charset="0"/>
              </a:rPr>
              <a:t>: Deep-Dive Analysis &amp; Interactive Dashboarding</a:t>
            </a:r>
          </a:p>
          <a:p>
            <a:endParaRPr lang="en-US">
              <a:latin typeface="Times New Roman" panose="02020603050405020304" pitchFamily="18" charset="0"/>
              <a:cs typeface="Times New Roman" panose="02020603050405020304" pitchFamily="18" charset="0"/>
            </a:endParaRPr>
          </a:p>
          <a:p>
            <a:pPr marL="0" indent="0">
              <a:buNone/>
            </a:pPr>
            <a:r>
              <a:rPr lang="en-US" sz="3200" b="1">
                <a:solidFill>
                  <a:schemeClr val="accent1">
                    <a:lumMod val="75000"/>
                  </a:schemeClr>
                </a:solidFill>
                <a:latin typeface="Times New Roman" panose="02020603050405020304" pitchFamily="18" charset="0"/>
                <a:cs typeface="Times New Roman" panose="02020603050405020304" pitchFamily="18" charset="0"/>
              </a:rPr>
              <a:t>Tools Used</a:t>
            </a:r>
          </a:p>
          <a:p>
            <a:r>
              <a:rPr lang="en-US" sz="2600">
                <a:latin typeface="Times New Roman" panose="02020603050405020304" pitchFamily="18" charset="0"/>
                <a:cs typeface="Times New Roman" panose="02020603050405020304" pitchFamily="18" charset="0"/>
              </a:rPr>
              <a:t>Microsoft Excel / Google Sheets</a:t>
            </a:r>
          </a:p>
          <a:p>
            <a:r>
              <a:rPr lang="en-US" sz="2600">
                <a:latin typeface="Times New Roman" panose="02020603050405020304" pitchFamily="18" charset="0"/>
                <a:cs typeface="Times New Roman" panose="02020603050405020304" pitchFamily="18" charset="0"/>
              </a:rPr>
              <a:t>Power BI</a:t>
            </a:r>
          </a:p>
          <a:p>
            <a:r>
              <a:rPr lang="en-US" sz="2600">
                <a:latin typeface="Times New Roman" panose="02020603050405020304" pitchFamily="18" charset="0"/>
                <a:cs typeface="Times New Roman" panose="02020603050405020304" pitchFamily="18" charset="0"/>
              </a:rPr>
              <a:t>GitHub</a:t>
            </a:r>
          </a:p>
          <a:p>
            <a:r>
              <a:rPr lang="en-US" sz="2600">
                <a:latin typeface="Times New Roman" panose="02020603050405020304" pitchFamily="18" charset="0"/>
                <a:cs typeface="Times New Roman" panose="02020603050405020304" pitchFamily="18" charset="0"/>
              </a:rPr>
              <a:t>Microsoft PowerPoint</a:t>
            </a:r>
          </a:p>
        </p:txBody>
      </p:sp>
    </p:spTree>
    <p:extLst>
      <p:ext uri="{BB962C8B-B14F-4D97-AF65-F5344CB8AC3E}">
        <p14:creationId xmlns:p14="http://schemas.microsoft.com/office/powerpoint/2010/main" val="1835875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C4256-D5F1-6352-6727-DD6ECE2EA236}"/>
              </a:ext>
            </a:extLst>
          </p:cNvPr>
          <p:cNvSpPr>
            <a:spLocks noGrp="1"/>
          </p:cNvSpPr>
          <p:nvPr>
            <p:ph type="title"/>
          </p:nvPr>
        </p:nvSpPr>
        <p:spPr/>
        <p:txBody>
          <a:bodyPr/>
          <a:lstStyle/>
          <a:p>
            <a:r>
              <a:rPr lang="en-US" b="1">
                <a:solidFill>
                  <a:schemeClr val="accent1">
                    <a:lumMod val="75000"/>
                  </a:schemeClr>
                </a:solidFill>
                <a:latin typeface="Times New Roman" panose="02020603050405020304" pitchFamily="18" charset="0"/>
                <a:cs typeface="Times New Roman" panose="02020603050405020304" pitchFamily="18" charset="0"/>
              </a:rPr>
              <a:t>Project overview</a:t>
            </a:r>
          </a:p>
        </p:txBody>
      </p:sp>
      <p:sp>
        <p:nvSpPr>
          <p:cNvPr id="3" name="Content Placeholder 2">
            <a:extLst>
              <a:ext uri="{FF2B5EF4-FFF2-40B4-BE49-F238E27FC236}">
                <a16:creationId xmlns:a16="http://schemas.microsoft.com/office/drawing/2014/main" id="{283A9408-397D-4F3D-AD79-A1788B3AD516}"/>
              </a:ext>
            </a:extLst>
          </p:cNvPr>
          <p:cNvSpPr>
            <a:spLocks noGrp="1"/>
          </p:cNvSpPr>
          <p:nvPr>
            <p:ph idx="1"/>
          </p:nvPr>
        </p:nvSpPr>
        <p:spPr/>
        <p:txBody>
          <a:bodyPr/>
          <a:lstStyle/>
          <a:p>
            <a:pPr marL="0" indent="0">
              <a:buNone/>
            </a:pPr>
            <a:r>
              <a:rPr lang="en-US">
                <a:latin typeface="Times New Roman" panose="02020603050405020304" pitchFamily="18" charset="0"/>
                <a:cs typeface="Times New Roman" panose="02020603050405020304" pitchFamily="18" charset="0"/>
              </a:rPr>
              <a:t>  This project focuses on analyzing sales data to extract meaningful business insights using data analytics techniques. The project involved cleaning and preparing the dataset, performing exploratory data analysis (EDA), creating an interactive dashboard, and presenting the findings through data storytelling and statistical validation. The insights help identify sales trends, top-performing product categories, customer purchasing patterns, and support data-driven business decisions.</a:t>
            </a:r>
          </a:p>
        </p:txBody>
      </p:sp>
    </p:spTree>
    <p:extLst>
      <p:ext uri="{BB962C8B-B14F-4D97-AF65-F5344CB8AC3E}">
        <p14:creationId xmlns:p14="http://schemas.microsoft.com/office/powerpoint/2010/main" val="1258183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25DB5-9872-CEB8-8273-68389F8CE769}"/>
              </a:ext>
            </a:extLst>
          </p:cNvPr>
          <p:cNvSpPr>
            <a:spLocks noGrp="1"/>
          </p:cNvSpPr>
          <p:nvPr>
            <p:ph type="title"/>
          </p:nvPr>
        </p:nvSpPr>
        <p:spPr/>
        <p:txBody>
          <a:bodyPr/>
          <a:lstStyle/>
          <a:p>
            <a:r>
              <a:rPr lang="en-US" b="1">
                <a:solidFill>
                  <a:schemeClr val="accent1">
                    <a:lumMod val="75000"/>
                  </a:schemeClr>
                </a:solidFill>
                <a:latin typeface="Times New Roman" panose="02020603050405020304" pitchFamily="18" charset="0"/>
                <a:cs typeface="Times New Roman" panose="02020603050405020304" pitchFamily="18" charset="0"/>
              </a:rPr>
              <a:t>Project Objective and Goals</a:t>
            </a:r>
          </a:p>
        </p:txBody>
      </p:sp>
      <p:sp>
        <p:nvSpPr>
          <p:cNvPr id="3" name="Content Placeholder 2">
            <a:extLst>
              <a:ext uri="{FF2B5EF4-FFF2-40B4-BE49-F238E27FC236}">
                <a16:creationId xmlns:a16="http://schemas.microsoft.com/office/drawing/2014/main" id="{40CFD1D1-A9D6-4210-8E92-ED55AC709B51}"/>
              </a:ext>
            </a:extLst>
          </p:cNvPr>
          <p:cNvSpPr>
            <a:spLocks noGrp="1"/>
          </p:cNvSpPr>
          <p:nvPr>
            <p:ph idx="1"/>
          </p:nvPr>
        </p:nvSpPr>
        <p:spPr/>
        <p:txBody>
          <a:bodyPr>
            <a:normAutofit/>
          </a:bodyPr>
          <a:lstStyle/>
          <a:p>
            <a:r>
              <a:rPr lang="en-US" b="1">
                <a:solidFill>
                  <a:schemeClr val="accent2">
                    <a:lumMod val="75000"/>
                  </a:schemeClr>
                </a:solidFill>
                <a:latin typeface="Times New Roman" panose="02020603050405020304" pitchFamily="18" charset="0"/>
                <a:cs typeface="Times New Roman" panose="02020603050405020304" pitchFamily="18" charset="0"/>
              </a:rPr>
              <a:t>Objective</a:t>
            </a:r>
          </a:p>
          <a:p>
            <a:pPr marL="0" indent="0">
              <a:buNone/>
            </a:pPr>
            <a:r>
              <a:rPr lang="en-US" b="1">
                <a:solidFill>
                  <a:schemeClr val="accent2">
                    <a:lumMod val="75000"/>
                  </a:schemeClr>
                </a:solidFill>
              </a:rPr>
              <a:t> </a:t>
            </a:r>
            <a:r>
              <a:rPr lang="en-US" sz="2000">
                <a:latin typeface="Times New Roman" panose="02020603050405020304" pitchFamily="18" charset="0"/>
                <a:cs typeface="Times New Roman" panose="02020603050405020304" pitchFamily="18" charset="0"/>
              </a:rPr>
              <a:t>The objective of this project is to analyze the sales dataset and identify meaningful business insights that support better decision-making. The analysis focuses on sales performance, customer purchasing behavior, product categories, monthly sales trends, and regional performance</a:t>
            </a:r>
            <a:r>
              <a:rPr lang="en-US" sz="2000" b="1">
                <a:solidFill>
                  <a:schemeClr val="accent2">
                    <a:lumMod val="75000"/>
                  </a:schemeClr>
                </a:solidFill>
                <a:latin typeface="Times New Roman" panose="02020603050405020304" pitchFamily="18" charset="0"/>
                <a:cs typeface="Times New Roman" panose="02020603050405020304" pitchFamily="18" charset="0"/>
              </a:rPr>
              <a:t>.</a:t>
            </a:r>
          </a:p>
          <a:p>
            <a:r>
              <a:rPr lang="en-US" b="1" err="1">
                <a:solidFill>
                  <a:schemeClr val="accent2">
                    <a:lumMod val="75000"/>
                  </a:schemeClr>
                </a:solidFill>
                <a:latin typeface="Times New Roman" panose="02020603050405020304" pitchFamily="18" charset="0"/>
                <a:cs typeface="Times New Roman" panose="02020603050405020304" pitchFamily="18" charset="0"/>
              </a:rPr>
              <a:t>Golas</a:t>
            </a:r>
            <a:endParaRPr lang="en-US" b="1">
              <a:solidFill>
                <a:schemeClr val="accent2">
                  <a:lumMod val="75000"/>
                </a:schemeClr>
              </a:solidFill>
              <a:latin typeface="Times New Roman" panose="02020603050405020304" pitchFamily="18" charset="0"/>
              <a:cs typeface="Times New Roman" panose="02020603050405020304" pitchFamily="18" charset="0"/>
            </a:endParaRPr>
          </a:p>
          <a:p>
            <a:pPr marL="0" indent="0">
              <a:buNone/>
            </a:pPr>
            <a:r>
              <a:rPr lang="en-US" sz="2000">
                <a:latin typeface="Times New Roman" panose="02020603050405020304" pitchFamily="18" charset="0"/>
                <a:cs typeface="Times New Roman" panose="02020603050405020304" pitchFamily="18" charset="0"/>
              </a:rPr>
              <a:t>1.Analyze sales performance.</a:t>
            </a:r>
          </a:p>
          <a:p>
            <a:pPr marL="0" indent="0">
              <a:buNone/>
            </a:pPr>
            <a:r>
              <a:rPr lang="en-US" sz="2000">
                <a:latin typeface="Times New Roman" panose="02020603050405020304" pitchFamily="18" charset="0"/>
                <a:cs typeface="Times New Roman" panose="02020603050405020304" pitchFamily="18" charset="0"/>
              </a:rPr>
              <a:t>2.Identify top-selling product categories.</a:t>
            </a:r>
          </a:p>
          <a:p>
            <a:pPr marL="0" indent="0">
              <a:buNone/>
            </a:pPr>
            <a:r>
              <a:rPr lang="en-US" sz="2000">
                <a:latin typeface="Times New Roman" panose="02020603050405020304" pitchFamily="18" charset="0"/>
                <a:cs typeface="Times New Roman" panose="02020603050405020304" pitchFamily="18" charset="0"/>
              </a:rPr>
              <a:t>3.Find the best-performing cities.</a:t>
            </a:r>
          </a:p>
          <a:p>
            <a:pPr marL="0" indent="0">
              <a:buNone/>
            </a:pPr>
            <a:r>
              <a:rPr lang="en-US" sz="2000">
                <a:latin typeface="Times New Roman" panose="02020603050405020304" pitchFamily="18" charset="0"/>
                <a:cs typeface="Times New Roman" panose="02020603050405020304" pitchFamily="18" charset="0"/>
              </a:rPr>
              <a:t>4.Understand monthly sales trends.</a:t>
            </a:r>
          </a:p>
          <a:p>
            <a:pPr marL="0" indent="0">
              <a:buNone/>
            </a:pPr>
            <a:r>
              <a:rPr lang="en-US" sz="2000">
                <a:latin typeface="Times New Roman" panose="02020603050405020304" pitchFamily="18" charset="0"/>
                <a:cs typeface="Times New Roman" panose="02020603050405020304" pitchFamily="18" charset="0"/>
              </a:rPr>
              <a:t>5.Provide business recommendations</a:t>
            </a:r>
            <a:r>
              <a:rPr lang="en-US" sz="2000" b="1">
                <a:solidFill>
                  <a:schemeClr val="accent2">
                    <a:lumMod val="75000"/>
                  </a:schemeClr>
                </a:solidFill>
                <a:latin typeface="Times New Roman" panose="02020603050405020304" pitchFamily="18" charset="0"/>
                <a:cs typeface="Times New Roman" panose="02020603050405020304" pitchFamily="18" charset="0"/>
              </a:rPr>
              <a:t>.</a:t>
            </a:r>
            <a:endParaRPr lang="en-US" b="1">
              <a:solidFill>
                <a:schemeClr val="accent2">
                  <a:lumMod val="75000"/>
                </a:schemeClr>
              </a:solidFill>
            </a:endParaRPr>
          </a:p>
        </p:txBody>
      </p:sp>
    </p:spTree>
    <p:extLst>
      <p:ext uri="{BB962C8B-B14F-4D97-AF65-F5344CB8AC3E}">
        <p14:creationId xmlns:p14="http://schemas.microsoft.com/office/powerpoint/2010/main" val="17660984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837850-307B-411A-5A61-EDB51A2CDBE9}"/>
              </a:ext>
            </a:extLst>
          </p:cNvPr>
          <p:cNvSpPr>
            <a:spLocks noGrp="1"/>
          </p:cNvSpPr>
          <p:nvPr>
            <p:ph idx="1"/>
          </p:nvPr>
        </p:nvSpPr>
        <p:spPr>
          <a:xfrm>
            <a:off x="838200" y="565079"/>
            <a:ext cx="10515600" cy="5611883"/>
          </a:xfrm>
        </p:spPr>
        <p:txBody>
          <a:bodyPr>
            <a:normAutofit fontScale="92500" lnSpcReduction="10000"/>
          </a:bodyPr>
          <a:lstStyle/>
          <a:p>
            <a:pPr marL="0" indent="0">
              <a:buNone/>
            </a:pPr>
            <a:r>
              <a:rPr lang="en-US" sz="2400" b="1">
                <a:solidFill>
                  <a:schemeClr val="accent1">
                    <a:lumMod val="75000"/>
                  </a:schemeClr>
                </a:solidFill>
                <a:latin typeface="Times New Roman" panose="02020603050405020304" pitchFamily="18" charset="0"/>
                <a:cs typeface="Times New Roman" panose="02020603050405020304" pitchFamily="18" charset="0"/>
              </a:rPr>
              <a:t>Task 1: Data Immersion &amp; Wrangling</a:t>
            </a:r>
          </a:p>
          <a:p>
            <a:pPr marL="0" indent="0">
              <a:buNone/>
            </a:pPr>
            <a:r>
              <a:rPr lang="en-US" b="1">
                <a:solidFill>
                  <a:schemeClr val="accent1">
                    <a:lumMod val="75000"/>
                  </a:schemeClr>
                </a:solidFill>
                <a:latin typeface="Times New Roman" panose="02020603050405020304" pitchFamily="18" charset="0"/>
                <a:cs typeface="Times New Roman" panose="02020603050405020304" pitchFamily="18" charset="0"/>
              </a:rPr>
              <a:t>	</a:t>
            </a:r>
            <a:r>
              <a:rPr lang="en-US" sz="1800">
                <a:latin typeface="Times New Roman" panose="02020603050405020304" pitchFamily="18" charset="0"/>
                <a:cs typeface="Times New Roman" panose="02020603050405020304" pitchFamily="18" charset="0"/>
              </a:rPr>
              <a:t>1.Improve dataset</a:t>
            </a:r>
          </a:p>
          <a:p>
            <a:pPr marL="0" indent="0">
              <a:buNone/>
            </a:pPr>
            <a:r>
              <a:rPr lang="en-US" sz="1800">
                <a:latin typeface="Times New Roman" panose="02020603050405020304" pitchFamily="18" charset="0"/>
                <a:cs typeface="Times New Roman" panose="02020603050405020304" pitchFamily="18" charset="0"/>
              </a:rPr>
              <a:t>	2.remove duplicates</a:t>
            </a:r>
          </a:p>
          <a:p>
            <a:pPr marL="0" indent="0">
              <a:buNone/>
            </a:pPr>
            <a:r>
              <a:rPr lang="en-US" sz="1800">
                <a:latin typeface="Times New Roman" panose="02020603050405020304" pitchFamily="18" charset="0"/>
                <a:cs typeface="Times New Roman" panose="02020603050405020304" pitchFamily="18" charset="0"/>
              </a:rPr>
              <a:t>	3.Handling missing values</a:t>
            </a:r>
          </a:p>
          <a:p>
            <a:pPr marL="0" indent="0">
              <a:buNone/>
            </a:pPr>
            <a:r>
              <a:rPr lang="en-US" sz="1800">
                <a:latin typeface="Times New Roman" panose="02020603050405020304" pitchFamily="18" charset="0"/>
                <a:cs typeface="Times New Roman" panose="02020603050405020304" pitchFamily="18" charset="0"/>
              </a:rPr>
              <a:t>	4.Prepared clean dataset</a:t>
            </a:r>
          </a:p>
          <a:p>
            <a:pPr marL="0" indent="0">
              <a:buNone/>
            </a:pPr>
            <a:r>
              <a:rPr lang="en-US" sz="2400" b="1">
                <a:solidFill>
                  <a:schemeClr val="accent1">
                    <a:lumMod val="75000"/>
                  </a:schemeClr>
                </a:solidFill>
                <a:latin typeface="Times New Roman" panose="02020603050405020304" pitchFamily="18" charset="0"/>
                <a:cs typeface="Times New Roman" panose="02020603050405020304" pitchFamily="18" charset="0"/>
              </a:rPr>
              <a:t>Task-2:EDA &amp;</a:t>
            </a:r>
            <a:r>
              <a:rPr lang="en-US" sz="2400" b="1">
                <a:solidFill>
                  <a:schemeClr val="accent1">
                    <a:lumMod val="50000"/>
                  </a:schemeClr>
                </a:solidFill>
                <a:latin typeface="Times New Roman" panose="02020603050405020304" pitchFamily="18" charset="0"/>
                <a:cs typeface="Times New Roman" panose="02020603050405020304" pitchFamily="18" charset="0"/>
              </a:rPr>
              <a:t>Business</a:t>
            </a:r>
            <a:r>
              <a:rPr lang="en-US" sz="2400" b="1">
                <a:solidFill>
                  <a:schemeClr val="accent1">
                    <a:lumMod val="75000"/>
                  </a:schemeClr>
                </a:solidFill>
                <a:latin typeface="Times New Roman" panose="02020603050405020304" pitchFamily="18" charset="0"/>
                <a:cs typeface="Times New Roman" panose="02020603050405020304" pitchFamily="18" charset="0"/>
              </a:rPr>
              <a:t> Intelligence</a:t>
            </a:r>
          </a:p>
          <a:p>
            <a:pPr marL="0" indent="0">
              <a:buNone/>
            </a:pPr>
            <a:r>
              <a:rPr lang="en-US" sz="2400" b="1">
                <a:solidFill>
                  <a:schemeClr val="accent1">
                    <a:lumMod val="75000"/>
                  </a:schemeClr>
                </a:solidFill>
                <a:latin typeface="Times New Roman" panose="02020603050405020304" pitchFamily="18" charset="0"/>
                <a:cs typeface="Times New Roman" panose="02020603050405020304" pitchFamily="18" charset="0"/>
              </a:rPr>
              <a:t>	</a:t>
            </a:r>
            <a:r>
              <a:rPr lang="en-US" sz="1800">
                <a:latin typeface="Times New Roman" panose="02020603050405020304" pitchFamily="18" charset="0"/>
                <a:cs typeface="Times New Roman" panose="02020603050405020304" pitchFamily="18" charset="0"/>
              </a:rPr>
              <a:t>1.Explored sales trends</a:t>
            </a:r>
          </a:p>
          <a:p>
            <a:pPr marL="0" indent="0">
              <a:buNone/>
            </a:pPr>
            <a:r>
              <a:rPr lang="en-US" sz="1800">
                <a:latin typeface="Times New Roman" panose="02020603050405020304" pitchFamily="18" charset="0"/>
                <a:cs typeface="Times New Roman" panose="02020603050405020304" pitchFamily="18" charset="0"/>
              </a:rPr>
              <a:t>	2.Analyzed categories</a:t>
            </a:r>
          </a:p>
          <a:p>
            <a:pPr marL="0" indent="0">
              <a:buNone/>
            </a:pPr>
            <a:r>
              <a:rPr lang="en-US" sz="1800">
                <a:latin typeface="Times New Roman" panose="02020603050405020304" pitchFamily="18" charset="0"/>
                <a:cs typeface="Times New Roman" panose="02020603050405020304" pitchFamily="18" charset="0"/>
              </a:rPr>
              <a:t>	3.Compare customer behavior </a:t>
            </a:r>
          </a:p>
          <a:p>
            <a:pPr marL="0" indent="0">
              <a:buNone/>
            </a:pPr>
            <a:r>
              <a:rPr lang="en-US" sz="1800">
                <a:latin typeface="Times New Roman" panose="02020603050405020304" pitchFamily="18" charset="0"/>
                <a:cs typeface="Times New Roman" panose="02020603050405020304" pitchFamily="18" charset="0"/>
              </a:rPr>
              <a:t>	4.create visualizations</a:t>
            </a:r>
          </a:p>
          <a:p>
            <a:pPr marL="0" indent="0">
              <a:buNone/>
            </a:pPr>
            <a:r>
              <a:rPr lang="en-US" sz="2400" b="1">
                <a:solidFill>
                  <a:schemeClr val="accent1">
                    <a:lumMod val="75000"/>
                  </a:schemeClr>
                </a:solidFill>
                <a:latin typeface="Times New Roman" panose="02020603050405020304" pitchFamily="18" charset="0"/>
                <a:cs typeface="Times New Roman" panose="02020603050405020304" pitchFamily="18" charset="0"/>
              </a:rPr>
              <a:t>Task-3:Interactive Dashboard</a:t>
            </a:r>
          </a:p>
          <a:p>
            <a:pPr marL="0" indent="0">
              <a:buNone/>
            </a:pPr>
            <a:r>
              <a:rPr lang="en-US" sz="2400" b="1">
                <a:solidFill>
                  <a:schemeClr val="accent1">
                    <a:lumMod val="75000"/>
                  </a:schemeClr>
                </a:solidFill>
                <a:latin typeface="Times New Roman" panose="02020603050405020304" pitchFamily="18" charset="0"/>
                <a:cs typeface="Times New Roman" panose="02020603050405020304" pitchFamily="18" charset="0"/>
              </a:rPr>
              <a:t>	</a:t>
            </a:r>
            <a:r>
              <a:rPr lang="en-US" sz="1900">
                <a:latin typeface="Times New Roman" panose="02020603050405020304" pitchFamily="18" charset="0"/>
                <a:cs typeface="Times New Roman" panose="02020603050405020304" pitchFamily="18" charset="0"/>
              </a:rPr>
              <a:t>1.Totals sales 139.24 million</a:t>
            </a:r>
          </a:p>
          <a:p>
            <a:pPr marL="0" indent="0">
              <a:buNone/>
            </a:pPr>
            <a:r>
              <a:rPr lang="en-US" sz="1900">
                <a:latin typeface="Times New Roman" panose="02020603050405020304" pitchFamily="18" charset="0"/>
                <a:cs typeface="Times New Roman" panose="02020603050405020304" pitchFamily="18" charset="0"/>
              </a:rPr>
              <a:t>	2.grocery category highest sales</a:t>
            </a:r>
          </a:p>
          <a:p>
            <a:pPr marL="0" indent="0">
              <a:buNone/>
            </a:pPr>
            <a:r>
              <a:rPr lang="en-US" sz="1900">
                <a:latin typeface="Times New Roman" panose="02020603050405020304" pitchFamily="18" charset="0"/>
                <a:cs typeface="Times New Roman" panose="02020603050405020304" pitchFamily="18" charset="0"/>
              </a:rPr>
              <a:t>	3.Male &amp; Female sales nearly equal</a:t>
            </a:r>
          </a:p>
          <a:p>
            <a:pPr marL="0" indent="0">
              <a:buNone/>
            </a:pPr>
            <a:r>
              <a:rPr lang="en-US" sz="1900">
                <a:latin typeface="Times New Roman" panose="02020603050405020304" pitchFamily="18" charset="0"/>
                <a:cs typeface="Times New Roman" panose="02020603050405020304" pitchFamily="18" charset="0"/>
              </a:rPr>
              <a:t>	4.Sensonal monthly trends </a:t>
            </a:r>
          </a:p>
        </p:txBody>
      </p:sp>
    </p:spTree>
    <p:extLst>
      <p:ext uri="{BB962C8B-B14F-4D97-AF65-F5344CB8AC3E}">
        <p14:creationId xmlns:p14="http://schemas.microsoft.com/office/powerpoint/2010/main" val="1607221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5F92D-60F1-DBD6-FA6E-D00574A9C189}"/>
              </a:ext>
            </a:extLst>
          </p:cNvPr>
          <p:cNvSpPr>
            <a:spLocks noGrp="1"/>
          </p:cNvSpPr>
          <p:nvPr>
            <p:ph type="title"/>
          </p:nvPr>
        </p:nvSpPr>
        <p:spPr/>
        <p:txBody>
          <a:bodyPr/>
          <a:lstStyle/>
          <a:p>
            <a:r>
              <a:rPr lang="en-US" b="1">
                <a:solidFill>
                  <a:schemeClr val="accent1">
                    <a:lumMod val="75000"/>
                  </a:schemeClr>
                </a:solidFill>
                <a:latin typeface="Times New Roman" panose="02020603050405020304" pitchFamily="18" charset="0"/>
                <a:cs typeface="Times New Roman" panose="02020603050405020304" pitchFamily="18" charset="0"/>
              </a:rPr>
              <a:t>Dashboarding </a:t>
            </a:r>
          </a:p>
        </p:txBody>
      </p:sp>
      <p:pic>
        <p:nvPicPr>
          <p:cNvPr id="5" name="Content Placeholder 4">
            <a:extLst>
              <a:ext uri="{FF2B5EF4-FFF2-40B4-BE49-F238E27FC236}">
                <a16:creationId xmlns:a16="http://schemas.microsoft.com/office/drawing/2014/main" id="{1E3AF3A2-C7F9-A1FF-B739-3CA70595859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7951" y="1602769"/>
            <a:ext cx="10644027" cy="5024062"/>
          </a:xfrm>
        </p:spPr>
      </p:pic>
    </p:spTree>
    <p:extLst>
      <p:ext uri="{BB962C8B-B14F-4D97-AF65-F5344CB8AC3E}">
        <p14:creationId xmlns:p14="http://schemas.microsoft.com/office/powerpoint/2010/main" val="133233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66680-7771-C5EB-7111-52A2BCDA2CA8}"/>
              </a:ext>
            </a:extLst>
          </p:cNvPr>
          <p:cNvSpPr>
            <a:spLocks noGrp="1"/>
          </p:cNvSpPr>
          <p:nvPr>
            <p:ph type="title"/>
          </p:nvPr>
        </p:nvSpPr>
        <p:spPr/>
        <p:txBody>
          <a:bodyPr/>
          <a:lstStyle/>
          <a:p>
            <a:r>
              <a:rPr lang="en-US" b="1">
                <a:solidFill>
                  <a:schemeClr val="accent1">
                    <a:lumMod val="75000"/>
                  </a:schemeClr>
                </a:solidFill>
                <a:latin typeface="Times New Roman" panose="02020603050405020304" pitchFamily="18" charset="0"/>
                <a:cs typeface="Times New Roman" panose="02020603050405020304" pitchFamily="18" charset="0"/>
              </a:rPr>
              <a:t>Key Insights</a:t>
            </a:r>
          </a:p>
        </p:txBody>
      </p:sp>
      <p:sp>
        <p:nvSpPr>
          <p:cNvPr id="3" name="Content Placeholder 2">
            <a:extLst>
              <a:ext uri="{FF2B5EF4-FFF2-40B4-BE49-F238E27FC236}">
                <a16:creationId xmlns:a16="http://schemas.microsoft.com/office/drawing/2014/main" id="{B5A4F8D1-F105-E6B8-61FD-54344E485ECF}"/>
              </a:ext>
            </a:extLst>
          </p:cNvPr>
          <p:cNvSpPr>
            <a:spLocks noGrp="1"/>
          </p:cNvSpPr>
          <p:nvPr>
            <p:ph idx="1"/>
          </p:nvPr>
        </p:nvSpPr>
        <p:spPr/>
        <p:txBody>
          <a:bodyPr>
            <a:normAutofit/>
          </a:bodyPr>
          <a:lstStyle/>
          <a:p>
            <a:r>
              <a:rPr lang="en-US" sz="2000">
                <a:latin typeface="Times New Roman" panose="02020603050405020304" pitchFamily="18" charset="0"/>
                <a:cs typeface="Times New Roman" panose="02020603050405020304" pitchFamily="18" charset="0"/>
              </a:rPr>
              <a:t>Total Sales: ₹139.24 Million.</a:t>
            </a:r>
          </a:p>
          <a:p>
            <a:r>
              <a:rPr lang="en-US" sz="2000">
                <a:latin typeface="Times New Roman" panose="02020603050405020304" pitchFamily="18" charset="0"/>
                <a:cs typeface="Times New Roman" panose="02020603050405020304" pitchFamily="18" charset="0"/>
              </a:rPr>
              <a:t>Grocery is the highest-selling product category.</a:t>
            </a:r>
          </a:p>
          <a:p>
            <a:r>
              <a:rPr lang="en-US" sz="2000">
                <a:latin typeface="Times New Roman" panose="02020603050405020304" pitchFamily="18" charset="0"/>
                <a:cs typeface="Times New Roman" panose="02020603050405020304" pitchFamily="18" charset="0"/>
              </a:rPr>
              <a:t>Male and female customers contribute almost equally to total sales.</a:t>
            </a:r>
          </a:p>
          <a:p>
            <a:r>
              <a:rPr lang="en-US" sz="2000">
                <a:latin typeface="Times New Roman" panose="02020603050405020304" pitchFamily="18" charset="0"/>
                <a:cs typeface="Times New Roman" panose="02020603050405020304" pitchFamily="18" charset="0"/>
              </a:rPr>
              <a:t>Monthly sales show seasonal fluctuations.</a:t>
            </a:r>
          </a:p>
          <a:p>
            <a:r>
              <a:rPr lang="en-US" sz="2000">
                <a:latin typeface="Times New Roman" panose="02020603050405020304" pitchFamily="18" charset="0"/>
                <a:cs typeface="Times New Roman" panose="02020603050405020304" pitchFamily="18" charset="0"/>
              </a:rPr>
              <a:t>The dashboard helps identify top-performing categories and supports better business decisions.</a:t>
            </a:r>
          </a:p>
        </p:txBody>
      </p:sp>
    </p:spTree>
    <p:extLst>
      <p:ext uri="{BB962C8B-B14F-4D97-AF65-F5344CB8AC3E}">
        <p14:creationId xmlns:p14="http://schemas.microsoft.com/office/powerpoint/2010/main" val="174220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AA198-13FB-A989-5520-E62B7A546458}"/>
              </a:ext>
            </a:extLst>
          </p:cNvPr>
          <p:cNvSpPr>
            <a:spLocks noGrp="1"/>
          </p:cNvSpPr>
          <p:nvPr>
            <p:ph type="title"/>
          </p:nvPr>
        </p:nvSpPr>
        <p:spPr/>
        <p:txBody>
          <a:bodyPr/>
          <a:lstStyle/>
          <a:p>
            <a:r>
              <a:rPr lang="en-US" b="1">
                <a:solidFill>
                  <a:schemeClr val="accent1">
                    <a:lumMod val="75000"/>
                  </a:schemeClr>
                </a:solidFill>
                <a:latin typeface="Times New Roman" panose="02020603050405020304" pitchFamily="18" charset="0"/>
                <a:cs typeface="Times New Roman" panose="02020603050405020304" pitchFamily="18" charset="0"/>
              </a:rPr>
              <a:t>Business Recommendations</a:t>
            </a:r>
          </a:p>
        </p:txBody>
      </p:sp>
      <p:sp>
        <p:nvSpPr>
          <p:cNvPr id="3" name="Content Placeholder 2">
            <a:extLst>
              <a:ext uri="{FF2B5EF4-FFF2-40B4-BE49-F238E27FC236}">
                <a16:creationId xmlns:a16="http://schemas.microsoft.com/office/drawing/2014/main" id="{F219ED0C-350E-08D5-7DEF-AD217AE1E6A6}"/>
              </a:ext>
            </a:extLst>
          </p:cNvPr>
          <p:cNvSpPr>
            <a:spLocks noGrp="1"/>
          </p:cNvSpPr>
          <p:nvPr>
            <p:ph idx="1"/>
          </p:nvPr>
        </p:nvSpPr>
        <p:spPr/>
        <p:txBody>
          <a:bodyPr/>
          <a:lstStyle/>
          <a:p>
            <a:r>
              <a:rPr lang="en-US" sz="2400">
                <a:latin typeface="Times New Roman" panose="02020603050405020304" pitchFamily="18" charset="0"/>
                <a:cs typeface="Times New Roman" panose="02020603050405020304" pitchFamily="18" charset="0"/>
              </a:rPr>
              <a:t>Increase inventory for high-demand products.</a:t>
            </a:r>
          </a:p>
          <a:p>
            <a:r>
              <a:rPr lang="en-US" sz="2400">
                <a:latin typeface="Times New Roman" panose="02020603050405020304" pitchFamily="18" charset="0"/>
                <a:cs typeface="Times New Roman" panose="02020603050405020304" pitchFamily="18" charset="0"/>
              </a:rPr>
              <a:t>Launch promotional campaigns during peak sales months.</a:t>
            </a:r>
          </a:p>
          <a:p>
            <a:r>
              <a:rPr lang="en-US" sz="2400">
                <a:latin typeface="Times New Roman" panose="02020603050405020304" pitchFamily="18" charset="0"/>
                <a:cs typeface="Times New Roman" panose="02020603050405020304" pitchFamily="18" charset="0"/>
              </a:rPr>
              <a:t>Focus marketing efforts on high-performing cities.</a:t>
            </a:r>
          </a:p>
          <a:p>
            <a:r>
              <a:rPr lang="en-US" sz="2400">
                <a:latin typeface="Times New Roman" panose="02020603050405020304" pitchFamily="18" charset="0"/>
                <a:cs typeface="Times New Roman" panose="02020603050405020304" pitchFamily="18" charset="0"/>
              </a:rPr>
              <a:t>Provide loyalty rewards for repeat customers.</a:t>
            </a:r>
          </a:p>
          <a:p>
            <a:r>
              <a:rPr lang="en-US" sz="2400">
                <a:latin typeface="Times New Roman" panose="02020603050405020304" pitchFamily="18" charset="0"/>
                <a:cs typeface="Times New Roman" panose="02020603050405020304" pitchFamily="18" charset="0"/>
              </a:rPr>
              <a:t>Improve the online shopping experience.</a:t>
            </a:r>
          </a:p>
          <a:p>
            <a:r>
              <a:rPr lang="en-US" sz="2400">
                <a:latin typeface="Times New Roman" panose="02020603050405020304" pitchFamily="18" charset="0"/>
                <a:cs typeface="Times New Roman" panose="02020603050405020304" pitchFamily="18" charset="0"/>
              </a:rPr>
              <a:t>Monitor low-performing categories and introduce discounts</a:t>
            </a:r>
            <a:r>
              <a:rPr lang="en-US"/>
              <a:t>.</a:t>
            </a:r>
          </a:p>
        </p:txBody>
      </p:sp>
    </p:spTree>
    <p:extLst>
      <p:ext uri="{BB962C8B-B14F-4D97-AF65-F5344CB8AC3E}">
        <p14:creationId xmlns:p14="http://schemas.microsoft.com/office/powerpoint/2010/main" val="3820948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A5428-E91A-199D-1AA3-B9E893884E31}"/>
              </a:ext>
            </a:extLst>
          </p:cNvPr>
          <p:cNvSpPr>
            <a:spLocks noGrp="1"/>
          </p:cNvSpPr>
          <p:nvPr>
            <p:ph type="title"/>
          </p:nvPr>
        </p:nvSpPr>
        <p:spPr/>
        <p:txBody>
          <a:bodyPr/>
          <a:lstStyle/>
          <a:p>
            <a:r>
              <a:rPr lang="en-US" b="1">
                <a:solidFill>
                  <a:schemeClr val="accent1">
                    <a:lumMod val="75000"/>
                  </a:schemeClr>
                </a:solidFill>
                <a:latin typeface="Times New Roman" panose="02020603050405020304" pitchFamily="18" charset="0"/>
                <a:cs typeface="Times New Roman" panose="02020603050405020304" pitchFamily="18" charset="0"/>
              </a:rPr>
              <a:t>Hypothesis Testing &amp; Statistical Validation</a:t>
            </a:r>
          </a:p>
        </p:txBody>
      </p:sp>
      <p:sp>
        <p:nvSpPr>
          <p:cNvPr id="3" name="Content Placeholder 2">
            <a:extLst>
              <a:ext uri="{FF2B5EF4-FFF2-40B4-BE49-F238E27FC236}">
                <a16:creationId xmlns:a16="http://schemas.microsoft.com/office/drawing/2014/main" id="{8C23918D-FECE-4C13-6D7F-8AB9FD326019}"/>
              </a:ext>
            </a:extLst>
          </p:cNvPr>
          <p:cNvSpPr>
            <a:spLocks noGrp="1"/>
          </p:cNvSpPr>
          <p:nvPr>
            <p:ph idx="1"/>
          </p:nvPr>
        </p:nvSpPr>
        <p:spPr/>
        <p:txBody>
          <a:bodyPr/>
          <a:lstStyle/>
          <a:p>
            <a:r>
              <a:rPr lang="en-US" b="1">
                <a:solidFill>
                  <a:schemeClr val="accent2">
                    <a:lumMod val="50000"/>
                  </a:schemeClr>
                </a:solidFill>
                <a:latin typeface="Times New Roman" panose="02020603050405020304" pitchFamily="18" charset="0"/>
                <a:cs typeface="Times New Roman" panose="02020603050405020304" pitchFamily="18" charset="0"/>
              </a:rPr>
              <a:t>Hypothesis</a:t>
            </a:r>
          </a:p>
          <a:p>
            <a:pPr marL="0" indent="0">
              <a:buNone/>
            </a:pPr>
            <a:r>
              <a:rPr lang="en-US" sz="2400" b="1">
                <a:latin typeface="Times New Roman" panose="02020603050405020304" pitchFamily="18" charset="0"/>
                <a:cs typeface="Times New Roman" panose="02020603050405020304" pitchFamily="18" charset="0"/>
              </a:rPr>
              <a:t>Null Hypothesis (H₀)</a:t>
            </a:r>
            <a:r>
              <a:rPr lang="en-US" sz="2400">
                <a:latin typeface="Times New Roman" panose="02020603050405020304" pitchFamily="18" charset="0"/>
                <a:cs typeface="Times New Roman" panose="02020603050405020304" pitchFamily="18" charset="0"/>
              </a:rPr>
              <a:t>: There is no significant difference in sales between product categories.</a:t>
            </a:r>
          </a:p>
          <a:p>
            <a:pPr marL="0" indent="0">
              <a:buNone/>
            </a:pPr>
            <a:r>
              <a:rPr lang="en-US" sz="2400" b="1">
                <a:latin typeface="Times New Roman" panose="02020603050405020304" pitchFamily="18" charset="0"/>
                <a:cs typeface="Times New Roman" panose="02020603050405020304" pitchFamily="18" charset="0"/>
              </a:rPr>
              <a:t>Alternative Hypothesis (H₁</a:t>
            </a:r>
            <a:r>
              <a:rPr lang="en-US" sz="2400">
                <a:latin typeface="Times New Roman" panose="02020603050405020304" pitchFamily="18" charset="0"/>
                <a:cs typeface="Times New Roman" panose="02020603050405020304" pitchFamily="18" charset="0"/>
              </a:rPr>
              <a:t>): There is a significant difference in sales between product categories.</a:t>
            </a:r>
          </a:p>
          <a:p>
            <a:r>
              <a:rPr lang="en-US" b="1">
                <a:solidFill>
                  <a:schemeClr val="accent2">
                    <a:lumMod val="50000"/>
                  </a:schemeClr>
                </a:solidFill>
                <a:latin typeface="Times New Roman" panose="02020603050405020304" pitchFamily="18" charset="0"/>
                <a:cs typeface="Times New Roman" panose="02020603050405020304" pitchFamily="18" charset="0"/>
              </a:rPr>
              <a:t>Statistical Validation</a:t>
            </a:r>
          </a:p>
          <a:p>
            <a:r>
              <a:rPr lang="en-US" sz="2400">
                <a:latin typeface="Times New Roman" panose="02020603050405020304" pitchFamily="18" charset="0"/>
                <a:cs typeface="Times New Roman" panose="02020603050405020304" pitchFamily="18" charset="0"/>
              </a:rPr>
              <a:t>Compared sales across categories.</a:t>
            </a:r>
          </a:p>
          <a:p>
            <a:r>
              <a:rPr lang="en-US" sz="2400">
                <a:latin typeface="Times New Roman" panose="02020603050405020304" pitchFamily="18" charset="0"/>
                <a:cs typeface="Times New Roman" panose="02020603050405020304" pitchFamily="18" charset="0"/>
              </a:rPr>
              <a:t>Observed Electronics had the highest average sales.</a:t>
            </a:r>
          </a:p>
          <a:p>
            <a:r>
              <a:rPr lang="en-US" sz="2400">
                <a:latin typeface="Times New Roman" panose="02020603050405020304" pitchFamily="18" charset="0"/>
                <a:cs typeface="Times New Roman" panose="02020603050405020304" pitchFamily="18" charset="0"/>
              </a:rPr>
              <a:t>The analysis supports the alternative hypothesis</a:t>
            </a:r>
            <a:r>
              <a:rPr lang="en-US" sz="200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062357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CB50C-02EF-A625-84B4-C86002225592}"/>
              </a:ext>
            </a:extLst>
          </p:cNvPr>
          <p:cNvSpPr>
            <a:spLocks noGrp="1"/>
          </p:cNvSpPr>
          <p:nvPr>
            <p:ph type="title"/>
          </p:nvPr>
        </p:nvSpPr>
        <p:spPr/>
        <p:txBody>
          <a:bodyPr/>
          <a:lstStyle/>
          <a:p>
            <a:r>
              <a:rPr lang="en-US" b="1">
                <a:solidFill>
                  <a:schemeClr val="accent1">
                    <a:lumMod val="75000"/>
                  </a:schemeClr>
                </a:solidFill>
                <a:latin typeface="Times New Roman" panose="02020603050405020304" pitchFamily="18" charset="0"/>
                <a:cs typeface="Times New Roman" panose="02020603050405020304" pitchFamily="18" charset="0"/>
              </a:rPr>
              <a:t>Skills Gained</a:t>
            </a:r>
          </a:p>
        </p:txBody>
      </p:sp>
      <p:sp>
        <p:nvSpPr>
          <p:cNvPr id="3" name="Content Placeholder 2">
            <a:extLst>
              <a:ext uri="{FF2B5EF4-FFF2-40B4-BE49-F238E27FC236}">
                <a16:creationId xmlns:a16="http://schemas.microsoft.com/office/drawing/2014/main" id="{AAE7432A-76DF-5B05-DB8F-61C0EA7905D1}"/>
              </a:ext>
            </a:extLst>
          </p:cNvPr>
          <p:cNvSpPr>
            <a:spLocks noGrp="1"/>
          </p:cNvSpPr>
          <p:nvPr>
            <p:ph idx="1"/>
          </p:nvPr>
        </p:nvSpPr>
        <p:spPr/>
        <p:txBody>
          <a:bodyPr/>
          <a:lstStyle/>
          <a:p>
            <a:r>
              <a:rPr lang="en-US">
                <a:latin typeface="Times New Roman" panose="02020603050405020304" pitchFamily="18" charset="0"/>
                <a:cs typeface="Times New Roman" panose="02020603050405020304" pitchFamily="18" charset="0"/>
              </a:rPr>
              <a:t>Data Cleaning</a:t>
            </a:r>
          </a:p>
          <a:p>
            <a:r>
              <a:rPr lang="en-US">
                <a:latin typeface="Times New Roman" panose="02020603050405020304" pitchFamily="18" charset="0"/>
                <a:cs typeface="Times New Roman" panose="02020603050405020304" pitchFamily="18" charset="0"/>
              </a:rPr>
              <a:t>EDA</a:t>
            </a:r>
          </a:p>
          <a:p>
            <a:r>
              <a:rPr lang="en-US">
                <a:latin typeface="Times New Roman" panose="02020603050405020304" pitchFamily="18" charset="0"/>
                <a:cs typeface="Times New Roman" panose="02020603050405020304" pitchFamily="18" charset="0"/>
              </a:rPr>
              <a:t>Dashboarding</a:t>
            </a:r>
          </a:p>
          <a:p>
            <a:r>
              <a:rPr lang="en-US">
                <a:latin typeface="Times New Roman" panose="02020603050405020304" pitchFamily="18" charset="0"/>
                <a:cs typeface="Times New Roman" panose="02020603050405020304" pitchFamily="18" charset="0"/>
              </a:rPr>
              <a:t>Data visualization</a:t>
            </a:r>
          </a:p>
          <a:p>
            <a:r>
              <a:rPr lang="en-US">
                <a:latin typeface="Times New Roman" panose="02020603050405020304" pitchFamily="18" charset="0"/>
                <a:cs typeface="Times New Roman" panose="02020603050405020304" pitchFamily="18" charset="0"/>
              </a:rPr>
              <a:t>Business Analysis</a:t>
            </a:r>
          </a:p>
          <a:p>
            <a:r>
              <a:rPr lang="en-US">
                <a:latin typeface="Times New Roman" panose="02020603050405020304" pitchFamily="18" charset="0"/>
                <a:cs typeface="Times New Roman" panose="02020603050405020304" pitchFamily="18" charset="0"/>
              </a:rPr>
              <a:t>Power BI</a:t>
            </a:r>
          </a:p>
        </p:txBody>
      </p:sp>
    </p:spTree>
    <p:extLst>
      <p:ext uri="{BB962C8B-B14F-4D97-AF65-F5344CB8AC3E}">
        <p14:creationId xmlns:p14="http://schemas.microsoft.com/office/powerpoint/2010/main" val="28361080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CBC68-93C8-013F-53DA-AD0507861531}"/>
              </a:ext>
            </a:extLst>
          </p:cNvPr>
          <p:cNvSpPr>
            <a:spLocks noGrp="1"/>
          </p:cNvSpPr>
          <p:nvPr>
            <p:ph type="title"/>
          </p:nvPr>
        </p:nvSpPr>
        <p:spPr/>
        <p:txBody>
          <a:bodyPr/>
          <a:lstStyle/>
          <a:p>
            <a:r>
              <a:rPr lang="en-US" b="1">
                <a:solidFill>
                  <a:schemeClr val="accent1">
                    <a:lumMod val="75000"/>
                  </a:schemeClr>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FE2D54C1-9DF0-3782-8B37-F4BB2432CB10}"/>
              </a:ext>
            </a:extLst>
          </p:cNvPr>
          <p:cNvSpPr>
            <a:spLocks noGrp="1"/>
          </p:cNvSpPr>
          <p:nvPr>
            <p:ph idx="1"/>
          </p:nvPr>
        </p:nvSpPr>
        <p:spPr/>
        <p:txBody>
          <a:bodyPr/>
          <a:lstStyle/>
          <a:p>
            <a:r>
              <a:rPr lang="en-US" sz="2400">
                <a:latin typeface="Times New Roman" panose="02020603050405020304" pitchFamily="18" charset="0"/>
                <a:cs typeface="Times New Roman" panose="02020603050405020304" pitchFamily="18" charset="0"/>
              </a:rPr>
              <a:t>This project successfully analyzed the sales dataset and transformed raw data into meaningful business insights.</a:t>
            </a:r>
          </a:p>
          <a:p>
            <a:r>
              <a:rPr lang="en-US" sz="2400">
                <a:latin typeface="Times New Roman" panose="02020603050405020304" pitchFamily="18" charset="0"/>
                <a:cs typeface="Times New Roman" panose="02020603050405020304" pitchFamily="18" charset="0"/>
              </a:rPr>
              <a:t>The dashboard highlights important sales trends, customer behavior, and business opportunities.</a:t>
            </a:r>
          </a:p>
          <a:p>
            <a:r>
              <a:rPr lang="en-US" sz="2400">
                <a:latin typeface="Times New Roman" panose="02020603050405020304" pitchFamily="18" charset="0"/>
                <a:cs typeface="Times New Roman" panose="02020603050405020304" pitchFamily="18" charset="0"/>
              </a:rPr>
              <a:t>The recommendations provided can help improve marketing strategies, inventory management, and overall business performance</a:t>
            </a:r>
            <a:r>
              <a:rPr lang="en-US"/>
              <a:t>.</a:t>
            </a:r>
          </a:p>
        </p:txBody>
      </p:sp>
    </p:spTree>
    <p:extLst>
      <p:ext uri="{BB962C8B-B14F-4D97-AF65-F5344CB8AC3E}">
        <p14:creationId xmlns:p14="http://schemas.microsoft.com/office/powerpoint/2010/main" val="391790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706B9-DAF7-5D01-B924-ACF9C8184863}"/>
              </a:ext>
            </a:extLst>
          </p:cNvPr>
          <p:cNvSpPr>
            <a:spLocks noGrp="1"/>
          </p:cNvSpPr>
          <p:nvPr>
            <p:ph type="title"/>
          </p:nvPr>
        </p:nvSpPr>
        <p:spPr>
          <a:xfrm>
            <a:off x="838200" y="365125"/>
            <a:ext cx="10515600" cy="4710309"/>
          </a:xfrm>
        </p:spPr>
        <p:txBody>
          <a:bodyPr>
            <a:normAutofit/>
          </a:bodyPr>
          <a:lstStyle/>
          <a:p>
            <a:r>
              <a:rPr lang="en-US" sz="6600" b="1">
                <a:solidFill>
                  <a:schemeClr val="accent1">
                    <a:lumMod val="75000"/>
                  </a:schemeClr>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9313995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521</Words>
  <Application>Microsoft Office PowerPoint</Application>
  <PresentationFormat>Widescreen</PresentationFormat>
  <Paragraphs>75</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Data Storytelling &amp; Statistical Validation</vt:lpstr>
      <vt:lpstr>Tasks</vt:lpstr>
      <vt:lpstr>Project overview</vt:lpstr>
      <vt:lpstr>Project Objective and Goals</vt:lpstr>
      <vt:lpstr>PowerPoint Presentation</vt:lpstr>
      <vt:lpstr>Dashboarding </vt:lpstr>
      <vt:lpstr>Key Insights</vt:lpstr>
      <vt:lpstr>Business Recommendations</vt:lpstr>
      <vt:lpstr>Hypothesis Testing &amp; Statistical Validation</vt:lpstr>
      <vt:lpstr>Skills Gained</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Storytelling &amp; Statistical Validation</dc:title>
  <dc:creator>Narendra kumar</dc:creator>
  <cp:lastModifiedBy>M Siri</cp:lastModifiedBy>
  <cp:revision>2</cp:revision>
  <dcterms:created xsi:type="dcterms:W3CDTF">2026-07-22T14:26:10Z</dcterms:created>
  <dcterms:modified xsi:type="dcterms:W3CDTF">2026-07-27T12:20:10Z</dcterms:modified>
</cp:coreProperties>
</file>